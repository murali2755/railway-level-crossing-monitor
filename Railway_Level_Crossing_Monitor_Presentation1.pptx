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ED5E06C-FA01-5777-5364-54F56B73C7C7}">
          <p14:sldIdLst>
            <p14:sldId id="256"/>
            <p14:sldId id="257"/>
            <p14:sldId id="258"/>
            <p14:sldId id="259"/>
          </p14:sldIdLst>
        </p14:section>
        <p14:section name="Architecture" id="{877F9432-AD1B-6EE8-E948-65C583ACE6A2}">
          <p14:sldIdLst>
            <p14:sldId id="260"/>
            <p14:sldId id="261"/>
            <p14:sldId id="262"/>
            <p14:sldId id="263"/>
            <p14:sldId id="264"/>
          </p14:sldIdLst>
        </p14:section>
        <p14:section name="Flow and results" id="{940D3F23-D48C-0AD2-476D-360DE00D0DF3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Wrap-up" id="{4D4E8810-A418-F476-ABF2-49C467E057DF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F1B2D"/>
                </a:solidFill>
                <a:latin typeface="+mn-lt"/>
              </a:rPr>
              <a:t>Cell mix after synthesis (139 cells)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F1B2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inv_2</c:v>
                </c:pt>
                <c:pt idx="1">
                  <c:v>dfxtp_2 (flip-flop)</c:v>
                </c:pt>
                <c:pt idx="2">
                  <c:v>buf_1</c:v>
                </c:pt>
                <c:pt idx="3">
                  <c:v>nor2_2</c:v>
                </c:pt>
                <c:pt idx="4">
                  <c:v>o221a_2</c:v>
                </c:pt>
                <c:pt idx="5">
                  <c:v>mux2_1</c:v>
                </c:pt>
                <c:pt idx="6">
                  <c:v>or2_2</c:v>
                </c:pt>
                <c:pt idx="7">
                  <c:v>o221ai_2</c:v>
                </c:pt>
                <c:pt idx="8">
                  <c:v>o32a_2</c:v>
                </c:pt>
                <c:pt idx="9">
                  <c:v>18 other types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</c:v>
                </c:pt>
                <c:pt idx="1">
                  <c:v>17</c:v>
                </c:pt>
                <c:pt idx="2">
                  <c:v>12</c:v>
                </c:pt>
                <c:pt idx="3">
                  <c:v>12</c:v>
                </c:pt>
                <c:pt idx="4">
                  <c:v>11</c:v>
                </c:pt>
                <c:pt idx="5">
                  <c:v>7</c:v>
                </c:pt>
                <c:pt idx="6">
                  <c:v>6</c:v>
                </c:pt>
                <c:pt idx="7">
                  <c:v>5</c:v>
                </c:pt>
                <c:pt idx="8">
                  <c:v>5</c:v>
                </c:pt>
                <c:pt idx="9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F-436F-BB50-F98C50C194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3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13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Railway Level Crossing Monitor  ·  SKY130 RTL-to-GDSII ASIC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011680"/>
            <a:ext cx="6949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urali2755/Railway-Level-Crossing-Monitor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0116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Railway Level Crossing Monitor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 SKY130 RTL-to-GDSII ASIC Design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97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chemeClr val="bg2"/>
                </a:solidFill>
              </a:rPr>
              <a:t>  </a:t>
            </a:r>
            <a:r>
              <a:rPr lang="en-US" sz="1500" dirty="0">
                <a:solidFill>
                  <a:schemeClr val="bg2"/>
                </a:solidFill>
              </a:rPr>
              <a:t>B.Tech, Electronics and Communication Engineering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212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T. Murali  ·  24EG104C35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Anurag University, School of Engineering  ·  2026–27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1144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Fail-safe sequence watchdog for level crossings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086B309-736F-FF8A-C65B-307180A34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358" y="728251"/>
            <a:ext cx="5216359" cy="29293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Why level crossings need a watchdog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95681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Lights 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505456" y="13716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825496" y="1371600"/>
            <a:ext cx="195681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Barrier DOWN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782312" y="13716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102352" y="1371600"/>
            <a:ext cx="195681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Train passes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59168" y="13716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79208" y="1371600"/>
            <a:ext cx="195681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Barrier UP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336024" y="13716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656064" y="1371600"/>
            <a:ext cx="1956816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Back to idle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468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Badge"/>
          <p:cNvSpPr txBox="1"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can go wrong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383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Warning light never turns 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Barrier stuck, never reaches down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 reported gone before barrier was down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Barrier does not rise after the train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343400" y="2468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Badge"/>
          <p:cNvSpPr txBox="1"/>
          <p:nvPr/>
        </p:nvSpPr>
        <p:spPr>
          <a:xfrm>
            <a:off x="4572000" y="26974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not firmware?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3383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microcontroller needs firmware, boot sequence, often an OS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adds a point of failure and start-up delay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Relay logic and manual checks can miss faults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8138160" y="2468880"/>
            <a:ext cx="3474720" cy="37490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Badge"/>
          <p:cNvSpPr txBox="1"/>
          <p:nvPr/>
        </p:nvSpPr>
        <p:spPr>
          <a:xfrm>
            <a:off x="8366760" y="2697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Our answer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3832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Dedicated digital hardware watchdog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Reacts within a single clock cycle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software to crash: deterministic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Latched fail-safe alarm plus error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 txBox="1"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17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Define a functional specification: safe sequence, stage timeouts, out-of-order detection, latched fault and a 3-bit error code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548640" y="233172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Badge"/>
          <p:cNvSpPr txBox="1"/>
          <p:nvPr/>
        </p:nvSpPr>
        <p:spPr>
          <a:xfrm>
            <a:off x="77724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77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Implement it as a six-state FSM with a shared 8-bit timeout counter in synthesizable, macro-free Verilog-2005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548640" y="329184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"/>
          <p:cNvSpPr txBox="1"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37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Verify the RTL with a self-checking testbench and the synthesized netlist with gate-level simulation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548640" y="425196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Badge"/>
          <p:cNvSpPr txBox="1"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297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Synthesize to SKY130 high-density cells and close timing in all 16 PVT corners, before and after layout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"/>
          <p:cNvSpPr txBox="1"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257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Run OpenLane RTL-to-GDSII in a 100 µm × 100 µm die with zero DRC, LVS, antenna, CVC and routing violations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monitor sees and reports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4206240" cy="4069080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Inputs (7 bits)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1400" dirty="0">
                <a:solidFill>
                  <a:schemeClr val="tx1"/>
                </a:solidFill>
              </a:rPr>
              <a:t>  20 MHz clock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r>
              <a:rPr lang="en-US" sz="1400" dirty="0">
                <a:solidFill>
                  <a:schemeClr val="tx1"/>
                </a:solidFill>
              </a:rPr>
              <a:t>  synchronous, active high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train_approach</a:t>
            </a:r>
            <a:r>
              <a:rPr lang="en-US" sz="1400" dirty="0">
                <a:solidFill>
                  <a:schemeClr val="tx1"/>
                </a:solidFill>
              </a:rPr>
              <a:t>  train approaching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train_depart</a:t>
            </a:r>
            <a:r>
              <a:rPr lang="en-US" sz="1400" dirty="0">
                <a:solidFill>
                  <a:schemeClr val="tx1"/>
                </a:solidFill>
              </a:rPr>
              <a:t>  train has cleared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light_on_sensor</a:t>
            </a:r>
            <a:r>
              <a:rPr lang="en-US" sz="1400" dirty="0">
                <a:solidFill>
                  <a:schemeClr val="tx1"/>
                </a:solidFill>
              </a:rPr>
              <a:t>  lights are ON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barrier_down_sensor</a:t>
            </a:r>
            <a:r>
              <a:rPr lang="en-US" sz="1400" dirty="0">
                <a:solidFill>
                  <a:schemeClr val="tx1"/>
                </a:solidFill>
              </a:rPr>
              <a:t>  barrier fully DOWN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barrier_up_sensor</a:t>
            </a:r>
            <a:r>
              <a:rPr lang="en-US" sz="1400" dirty="0">
                <a:solidFill>
                  <a:schemeClr val="tx1"/>
                </a:solidFill>
              </a:rPr>
              <a:t>  barrier fully 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2103120"/>
            <a:ext cx="219456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MONITOR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6-state FSM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8-bit shared counter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3-bit error register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926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7406640" y="1371600"/>
            <a:ext cx="4206240" cy="4069080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63524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Outputs (5 bits)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0116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fail_safe</a:t>
            </a:r>
            <a:r>
              <a:rPr lang="en-US" sz="1400" dirty="0">
                <a:solidFill>
                  <a:schemeClr val="tx1"/>
                </a:solidFill>
              </a:rPr>
              <a:t>  1 = violation or timeout; crossing unsafe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sequence_ok</a:t>
            </a:r>
            <a:r>
              <a:rPr lang="en-US" sz="1400" dirty="0">
                <a:solidFill>
                  <a:schemeClr val="tx1"/>
                </a:solidFill>
              </a:rPr>
              <a:t>  1 = sequence proceeding normally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error_code[2:0]</a:t>
            </a:r>
            <a:r>
              <a:rPr lang="en-US" sz="1400" dirty="0">
                <a:solidFill>
                  <a:schemeClr val="tx1"/>
                </a:solidFill>
              </a:rPr>
              <a:t>  000 = no error; other values identify the violation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2540" tIns="2540" rIns="2540" bIns="254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A parallel safety checker: it watches the crossing but never drives the barriers or lights, and fail_safe and sequence_ok can never be 1 together.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Architecture: block diagram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1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Block diagram of the Railway Level Crossing Moni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14217"/>
            <a:ext cx="6858000" cy="39610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46720" y="1463040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Sequence checker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5637A"/>
                </a:solidFill>
              </a:rPr>
              <a:t>expected, out-of-order or no event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Timeout comparators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5637A"/>
                </a:solidFill>
              </a:rPr>
              <a:t>shared counter vs limit 200 / 250 / 255 / 200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Next-state logic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5637A"/>
                </a:solidFill>
              </a:rPr>
              <a:t>next state and error code to latch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Registers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5637A"/>
                </a:solidFill>
              </a:rPr>
              <a:t>3-bit state, 8-bit counter, 3-bit error</a:t>
            </a:r>
            <a:endParaRPr lang="en-US" sz="14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Output decoder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55637A"/>
                </a:solidFill>
              </a:rPr>
              <a:t>driven by registers only, so glitch-free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Flowchart: one decision order per clock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4114800" cy="4937760"/>
          </a:xfrm>
          <a:prstGeom prst="roundRect">
            <a:avLst>
              <a:gd name="adj" fmla="val 177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Flowchart of the monitor ope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79" y="1417320"/>
            <a:ext cx="3469122" cy="475488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029200" y="132588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Badge"/>
          <p:cNvSpPr txBox="1"/>
          <p:nvPr/>
        </p:nvSpPr>
        <p:spPr>
          <a:xfrm>
            <a:off x="5212080" y="14721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3624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Reset: </a:t>
            </a:r>
            <a:r>
              <a:rPr lang="en-US" sz="1500" dirty="0">
                <a:solidFill>
                  <a:schemeClr val="tx1"/>
                </a:solidFill>
              </a:rPr>
              <a:t>load S_IDLE, clear counter and error register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029200" y="214884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Badge"/>
          <p:cNvSpPr txBox="1"/>
          <p:nvPr/>
        </p:nvSpPr>
        <p:spPr>
          <a:xfrm>
            <a:off x="5212080" y="22951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18541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Fault latched: </a:t>
            </a:r>
            <a:r>
              <a:rPr lang="en-US" sz="1500" dirty="0">
                <a:solidFill>
                  <a:schemeClr val="tx1"/>
                </a:solidFill>
              </a:rPr>
              <a:t>S_FAULT holds fail_safe = 1 until reset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029200" y="297180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"/>
          <p:cNvSpPr txBox="1"/>
          <p:nvPr/>
        </p:nvSpPr>
        <p:spPr>
          <a:xfrm>
            <a:off x="5212080" y="31181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30083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Expected sensor: </a:t>
            </a:r>
            <a:r>
              <a:rPr lang="en-US" sz="1500" dirty="0">
                <a:solidFill>
                  <a:schemeClr val="tx1"/>
                </a:solidFill>
              </a:rPr>
              <a:t>advance to next state, clear counter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029200" y="379476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Badge"/>
          <p:cNvSpPr txBox="1"/>
          <p:nvPr/>
        </p:nvSpPr>
        <p:spPr>
          <a:xfrm>
            <a:off x="5212080" y="39410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83133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Out-of-order sensor: </a:t>
            </a:r>
            <a:r>
              <a:rPr lang="en-US" sz="1500" dirty="0">
                <a:solidFill>
                  <a:schemeClr val="tx1"/>
                </a:solidFill>
              </a:rPr>
              <a:t>S_IDLE / S_WARN only: fault code 010, 011 or 100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5029200" y="461772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Badge"/>
          <p:cNvSpPr txBox="1"/>
          <p:nvPr/>
        </p:nvSpPr>
        <p:spPr>
          <a:xfrm>
            <a:off x="5212080" y="476402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465429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Timeout: </a:t>
            </a:r>
            <a:r>
              <a:rPr lang="en-US" sz="1500" dirty="0">
                <a:solidFill>
                  <a:schemeClr val="tx1"/>
                </a:solidFill>
              </a:rPr>
              <a:t>counter ≥ limit: fault code 110, 001, 111 or 101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5029200" y="5440680"/>
            <a:ext cx="658368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Badge"/>
          <p:cNvSpPr txBox="1"/>
          <p:nvPr/>
        </p:nvSpPr>
        <p:spPr>
          <a:xfrm>
            <a:off x="5212080" y="55869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547725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Otherwise: </a:t>
            </a:r>
            <a:r>
              <a:rPr lang="en-US" sz="1500" dirty="0">
                <a:solidFill>
                  <a:schemeClr val="tx1"/>
                </a:solidFill>
              </a:rPr>
              <a:t>counter + 1 and stay in the current state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Six-state Moore FSM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65836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State diagram of the moni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22" y="1463040"/>
            <a:ext cx="5904517" cy="466344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206240" cy="294436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Waits for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S_IDLE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no train (reset state)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S_WARN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lights ON?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S_BARRIER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barrier DOWN?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S_PASSING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train crossing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S_CLEAR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barrier UP?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S_FAULT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latched until reset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406640" y="4572000"/>
            <a:ext cx="420624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7589520" y="47091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Unused codes 110 and 111 return to S_IDLE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Yosys re-encodes the state as one-hot: 6 state flip-flops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Timing: safe sequence vs. fault case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66928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Timing of a normal safe sequence and of a fault 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" y="1417320"/>
            <a:ext cx="5250180" cy="47548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71600"/>
          <a:ext cx="512064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Cycles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 20 MHz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S_WARN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10.00 µs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</a:rPr>
                        <a:t>lights respond quickly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S_BARRIER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250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12.50 µs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</a:rPr>
                        <a:t>barrier has mechanical delay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S_PASSING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255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12.75 µs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</a:rPr>
                        <a:t>longest train transit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S_CLEAR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200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10.00 µs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</a:rPr>
                        <a:t>similar to barrier descent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0233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S_IDLE and S_FAULT have no limit: idle waits for a train, fault is latched until reset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shared counter, cleared on every transition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(b) Lights never turn ON: S_WARN times out after 200 cycles, S_FAULT, error_code 110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Error codes identify the violation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Detected in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No error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Timeout: barrier did not go down in time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S_BARRIER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barrier_down_sensor asserted before lights were 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S_WARN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train_depart asserted before barrier was down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S_IDLE or S_WARN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barrier_down_sensor asserted while no train expected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S_IDLE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Timeout: barrier did not go up in time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S_CLEAR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Timeout: lights did not turn ON in time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S_WARN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Timeout: train did not depart within the limit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S_PASSING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Red rows</a:t>
            </a:r>
            <a:r>
              <a:rPr lang="en-US" sz="1400" dirty="0">
                <a:solidFill>
                  <a:schemeClr val="tx1"/>
                </a:solidFill>
              </a:rPr>
              <a:t> = timeouts   ·   </a:t>
            </a:r>
            <a:r>
              <a:rPr lang="en-US" sz="1400" b="1" dirty="0">
                <a:solidFill>
                  <a:srgbClr val="B07F00"/>
                </a:solidFill>
              </a:rPr>
              <a:t>Amber rows</a:t>
            </a:r>
            <a:r>
              <a:rPr lang="en-US" sz="1400" dirty="0">
                <a:solidFill>
                  <a:schemeClr val="tx1"/>
                </a:solidFill>
              </a:rPr>
              <a:t> = out-of-order sensor events   ·   error_code reads 000 in every state except S_FAULT, where the latched code is held until reset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Design and verification flow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 txBox="1"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RTL design and simulation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Verilog-2005 · Icarus Verilog 10.1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38328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"/>
          <p:cNvSpPr txBox="1"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Logic synthesis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Yosys 0.29 → sky130_fd_sc_hd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1792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"/>
          <p:cNvSpPr txBox="1"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Pre-layout STA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OpenSTA · 16 PVT corners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9052560" y="137160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"/>
          <p:cNvSpPr txBox="1"/>
          <p:nvPr/>
        </p:nvSpPr>
        <p:spPr>
          <a:xfrm>
            <a:off x="92354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Gate-level simulation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SKY130 cell models, functional FF override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8404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Badge"/>
          <p:cNvSpPr txBox="1"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Physical design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12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OpenLane v0.21: floorplan, placement, CTS, routing, DRC, LVS, antenna, CVC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383280" y="38404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Badge"/>
          <p:cNvSpPr txBox="1"/>
          <p:nvPr/>
        </p:nvSpPr>
        <p:spPr>
          <a:xfrm>
            <a:off x="356616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Post-layout STA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5212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SPEF parasitics · same 16 corners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6217920" y="384048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Badge"/>
          <p:cNvSpPr txBox="1"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 vs post comparison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212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slack change at every corner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840480"/>
            <a:ext cx="274320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  <p:txBody>
          <a:bodyPr wrap="square" lIns="2540" tIns="2540" rIns="2540" bIns="254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100% open source</a:t>
            </a:r>
            <a:endParaRPr lang="en-US" sz="18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bg1"/>
                </a:solidFill>
              </a:rPr>
              <a:t>SKY130A PDK · Yosys · OpenROAD · Magic · KLayout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RTL simulation: 13 tests, 14 checks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722376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RTL simulation waveform of the 13 test ca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96" y="1417320"/>
            <a:ext cx="6368848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852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Figure 5.1: waveform of the 13 test cases (10 ns clock, simulation only)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8046720" y="1325880"/>
            <a:ext cx="35661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1463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</a:rPr>
              <a:t>14 / 14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174443"/>
            <a:ext cx="329184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checks PASS in Icarus Verilog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046720" y="3017520"/>
            <a:ext cx="356616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0" y="315468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safe sequence, back to S_IDLE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S_WARN timeout → code 110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S_BARRIER timeout → code 001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Barrier early → 010; early depart → 011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Fault held 50 cycles, cleared by reset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Interlock: never both outputs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Synthesis and gate-level check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139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00961"/>
            <a:ext cx="22860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standard cells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38328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1,300 µm²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200961"/>
            <a:ext cx="22860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total cell area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21792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17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200961"/>
            <a:ext cx="22860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flip-flops (6 state + 8 counter + 3 error)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9052560" y="1325880"/>
            <a:ext cx="256032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463040"/>
            <a:ext cx="22860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3"/>
                </a:solidFill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200961"/>
            <a:ext cx="22860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latches or memories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063240"/>
            <a:ext cx="640080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16" name="Chart 0"/>
          <p:cNvGraphicFramePr/>
          <p:nvPr/>
        </p:nvGraphicFramePr>
        <p:xfrm>
          <a:off x="640080" y="3108960"/>
          <a:ext cx="62179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Card"/>
          <p:cNvSpPr/>
          <p:nvPr/>
        </p:nvSpPr>
        <p:spPr>
          <a:xfrm>
            <a:off x="7223760" y="3063240"/>
            <a:ext cx="438912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0664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Gate-level simulation: 14/14 PASS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0" y="36576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stimulus on the synthesized netlist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Functional FF model (ff_override.v) avoids false X from the UDP hold check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primary outputs compared, since the state is one-hot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Netlist is functionally equivalent to the RTL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Static timing: 16 of 16 corners pass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640080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Setup and hold slack across the 16 PVT corners, pre- and post-lay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60" y="1417320"/>
            <a:ext cx="5420760" cy="475488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7223760" y="132588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609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+28.85 ns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74443"/>
            <a:ext cx="18288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worst setup, post-layout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9509760" y="132588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469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3"/>
                </a:solidFill>
              </a:rPr>
              <a:t>+0.20 ns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2174443"/>
            <a:ext cx="182880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worst hold, post-layout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017520"/>
          <a:ext cx="4389120" cy="16459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Pre-layout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Post-layout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Worst setup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+29.93 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+28.85 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Worst hold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+0.18 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+0.20 ns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F1B2D"/>
                          </a:solidFill>
                        </a:rPr>
                        <a:t>Corners passing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16 / 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1B2D"/>
                          </a:solidFill>
                        </a:rPr>
                        <a:t>16 / 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223760" y="48463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50 ns clock (20 MHz). Worst setup is the slow corner ss_n40C_1v28: wire parasitics cost about 1 ns, still far inside the period. Hold slack improves slightly after layout.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Slack at every PVT corner (ns)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03520" cy="362102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Corner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Setup pre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Setup 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Hold pre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Hold 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ff_100C_1v65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48.35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48.03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-0.320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+0.040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ff_100C_1v95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48.72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48.43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-0.290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0.19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ff_n40C_1v56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47.78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47.49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-0.290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ff_n40C_1v65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48.10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47.82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-0.280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ff_n40C_1v76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48.38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48.11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-0.270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ff_n40C_1v95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48.69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48.44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0.18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ss_100C_1v40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43.23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42.35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-0.880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1.16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1.47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+0.310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ss_100C_1v60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45.51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44.88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-0.630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0.80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+0.190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03520" cy="362102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Corner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Setup pre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Setup 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Hold pre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Hold post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29.93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28.85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-1.080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2.26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3.00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</a:rPr>
                        <a:t>+0.740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ss_n40C_1v35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36.43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35.69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-0.740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1.66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2.21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+0.550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ss_n40C_1v40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39.20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38.60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-0.600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1.38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1.81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+0.430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ss_n40C_1v44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40.81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40.27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-0.540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1.21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1.57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+0.360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44.43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44.04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-0.390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0.79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0.99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+0.200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ss_n40C_1v76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46.08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45.77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-0.310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0.59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0.71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+0.120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tt_025C_1v80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47.77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47.48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-0.290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0.41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tt_100C_1v80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47.86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47.50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-0.360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0.37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0.43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</a:rPr>
                        <a:t>+0.060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3175" tIns="3175" rIns="3175" bIns="3175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</a:rPr>
              <a:t>Setup slack falls 0.25–1.08 ns from real wire parasitics; hold slack improves 0.02–0.74 ns. Every corner stays positive. Worst case highlighted.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Physical design: floorplan to GDSII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Floorplan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5748"/>
            <a:ext cx="2377440" cy="23005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Floorplan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pins and tap cells (Fig. 5.2)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3383280" y="132588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lacement 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21756"/>
            <a:ext cx="2377440" cy="23685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Placement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5204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after global placement (Fig. 5.3)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6217920" y="132588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Routing 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17320"/>
            <a:ext cx="2377440" cy="23774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3550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routed layout view (Fig. 5.4)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9052560" y="1325880"/>
            <a:ext cx="2560320" cy="32461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Final GDSII vi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5475" y="1417320"/>
            <a:ext cx="2374490" cy="23774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897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Final GDSII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91897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final layout view (Fig. 5.5)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548640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685800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100 × 100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die, µm (0.01 mm²)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2432304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2569464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88.96 × 78.24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2569464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core, µm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4315968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4453128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139 / 90 / 56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4453128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logic / tap / end-cap cells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199632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6336792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7,135 µm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336792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total wire length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8083296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6"/>
          <p:cNvSpPr txBox="1"/>
          <p:nvPr/>
        </p:nvSpPr>
        <p:spPr>
          <a:xfrm>
            <a:off x="8220456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1,428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8220456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vias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9966960" y="4800600"/>
            <a:ext cx="170078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10104120" y="4937760"/>
            <a:ext cx="1426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/>
                </a:solidFill>
              </a:rPr>
              <a:t>3 min 27 s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10104120" y="5649163"/>
            <a:ext cx="1426464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OpenLane run time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Sign-off checks: all zero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0703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TritonRoute violations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3383280" y="132588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46304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30703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Short violations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217920" y="132588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30703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Metal spacing violations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9052560" y="132588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46304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30703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Off-grid violations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24612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38328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22727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Magic DRC violations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3383280" y="324612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20440" y="338328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22727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Antenna violations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217920" y="324612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55080" y="338328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22727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LVS errors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9052560" y="3246120"/>
            <a:ext cx="25603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89720" y="3383280"/>
            <a:ext cx="22860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3"/>
                </a:solidFill>
              </a:rPr>
              <a:t>0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4227271"/>
            <a:ext cx="228600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CVC errors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  <p:txBody>
          <a:bodyPr wrap="square" lIns="3175" tIns="3175" rIns="3175" bIns="317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OpenLane warns the core is too small for the standard power-grid pitch (about 153 µm vs a 100 µm die). It minimises the grid and every check still passes. LVS proves the layout matches the synthesized netlist.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Cost, society and environment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474720" cy="48463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 txBox="1"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Cost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open-source tools and PDK: no licence cost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1,300 µm² of cells in a 0.01 mm² die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firmware, so no software development or update cost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Fabrication cost depends on shuttle and volume (out of scope)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343400" y="1371600"/>
            <a:ext cx="3474720" cy="48463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Badge"/>
          <p:cNvSpPr txBox="1"/>
          <p:nvPr/>
        </p:nvSpPr>
        <p:spPr>
          <a:xfrm>
            <a:off x="4572000" y="16002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Usefulness to society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Real-time sequence check with an immediate alarm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in parallel with the existing controller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 enough for a control cabinet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 design files reusable for teaching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138160" y="1371600"/>
            <a:ext cx="3474720" cy="48463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Badge"/>
          <p:cNvSpPr txBox="1"/>
          <p:nvPr/>
        </p:nvSpPr>
        <p:spPr>
          <a:xfrm>
            <a:off x="836676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Environmental safety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7744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Low-complexity CMOS: small dynamic power (power analysis not done)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reboots, no software to update: long service life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Latched fault is never silently cleared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hazardous materials beyond standard fabrication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Problems we hit and how we fixed them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</a:rPr>
                        <a:t>Timeout counter not cleared on state change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Counter now cleared on every transition and on reset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</a:rPr>
                        <a:t>Gate-level state mismatch (Yosys one-hot vs 3-bit RTL)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Internal-state compares removed; only primary outputs checked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</a:rPr>
                        <a:t>False X values in gate-level simulation (UDP hold check)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Functional flip-flop override (ff_override.v); timing covered by STA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</a:rPr>
                        <a:t>Syntax errors in PDK model ("wire 1;" at lines 955, 1097)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Two lines patched in the local copy of sky130_fd_sc_hd.v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</a:rPr>
                        <a:t>Placement divergence: "[GPL-0302] Filler area is negative"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</a:rPr>
                        <a:t>PL_TARGET_DENSITY raised from 0.10 to 0.40 in config.tcl / config.json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future scope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Sensors assumed clean and debounced: no synchronizers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Command-and-feedback only: up / down sensors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Limits counted in clock cycles (10–12.75 µs at 20 MHz): needs a prescaler for seconds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Testbench skips S_PASSING and S_CLEAR timeouts and stray cases in S_IDLE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 channel, not assessed against IEC 61508 / EN 50129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power estimate; not fabricated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Input synchronizers, debounce and a slow-tick prescaler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Programmable timeout limits via registers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testbench coverage plus formal checks of interlock and latch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Dual-channel redundant monitor with output comparison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Fault log or serial interface with error code and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Power analysis and open-source shuttle fabrication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14 / 14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6006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checks pass in RTL and gate-level simulation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343400" y="13258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80560" y="146304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139 cells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36006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1,300 µm², 17 flip-flops, no latches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138160" y="132588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75320" y="146304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16 / 16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36006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PVT corners with positive slack, pre and post layout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329184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342900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+28.85 / +0.20 ns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32602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worst post-layout setup / hold slack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343400" y="329184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80560" y="342900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 violations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32602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DRC, LVS, antenna, CVC and routing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8138160" y="3291840"/>
            <a:ext cx="34747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75320" y="3429000"/>
            <a:ext cx="3200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/>
                </a:solidFill>
              </a:rPr>
              <a:t>3 min 27 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326026"/>
            <a:ext cx="32004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OpenLane RTL-to-GDSII run, 100 × 100 µm die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 wrap="square" lIns="3810" tIns="3810" rIns="3810" bIns="381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A small, deterministic, firmware-free safety monitor, taken from specification to a sign-off-clean layout with a fully open-source toolchain.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563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Repository and deliverables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F5B30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github.com/murali2755/Railway-Level-Crossing-Monitor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74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RTL, testbench, OpenLane configuration, timing reports and layout results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23160"/>
          <a:ext cx="10698480" cy="307238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GDSII (KLayout)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results/railway_level_crossing_monitor.gds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GDSII (Magic)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results/railway_level_crossing_monitor.magic.gds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Parasitics (SPEF)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results/railway_level_crossing_monitor.spef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Routed netlist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results/railway_level_crossing_monitor.synthesis_preroute.v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Flow summary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results/final_summary_report.csv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 / post-layout STA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timing/prelayout, timing/postlayout, timing/comparison.txt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RTL and testbench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rtl/…monitor.v, tb/…monitor_tb.v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Gate-level simulation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gls/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1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ilway Signal">
  <a:themeElements>
    <a:clrScheme name="Railway Signal">
      <a:dk1>
        <a:srgbClr val="0F1B2D"/>
      </a:dk1>
      <a:lt1>
        <a:srgbClr val="FFFFFF"/>
      </a:lt1>
      <a:dk2>
        <a:srgbClr val="1F3A5F"/>
      </a:dk2>
      <a:lt2>
        <a:srgbClr val="EEF2F7"/>
      </a:lt2>
      <a:accent1>
        <a:srgbClr val="F5B301"/>
      </a:accent1>
      <a:accent2>
        <a:srgbClr val="D62839"/>
      </a:accent2>
      <a:accent3>
        <a:srgbClr val="2E9E5B"/>
      </a:accent3>
      <a:accent4>
        <a:srgbClr val="3A6EA5"/>
      </a:accent4>
      <a:accent5>
        <a:srgbClr val="7A5195"/>
      </a:accent5>
      <a:accent6>
        <a:srgbClr val="55637A"/>
      </a:accent6>
      <a:hlink>
        <a:srgbClr val="3A6EA5"/>
      </a:hlink>
      <a:folHlink>
        <a:srgbClr val="7A5195"/>
      </a:folHlink>
    </a:clrScheme>
    <a:fontScheme name="Railway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2249</Words>
  <Application>Microsoft Office PowerPoint</Application>
  <PresentationFormat>Widescreen</PresentationFormat>
  <Paragraphs>520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Railway Signal</vt:lpstr>
      <vt:lpstr>Railway Level Crossing Monitor</vt:lpstr>
      <vt:lpstr>Why level crossings need a watchdog</vt:lpstr>
      <vt:lpstr>Project objectives</vt:lpstr>
      <vt:lpstr>What the monitor sees and reports</vt:lpstr>
      <vt:lpstr>Architecture: block diagram</vt:lpstr>
      <vt:lpstr>Flowchart: one decision order per clock</vt:lpstr>
      <vt:lpstr>Six-state Moore FSM</vt:lpstr>
      <vt:lpstr>Timing: safe sequence vs. fault case</vt:lpstr>
      <vt:lpstr>Error codes identify the violation</vt:lpstr>
      <vt:lpstr>Design and verification flow</vt:lpstr>
      <vt:lpstr>RTL simulation: 13 tests, 14 checks</vt:lpstr>
      <vt:lpstr>Synthesis and gate-level check</vt:lpstr>
      <vt:lpstr>Static timing: 16 of 16 corners pass</vt:lpstr>
      <vt:lpstr>Slack at every PVT corner (ns)</vt:lpstr>
      <vt:lpstr>Physical design: floorplan to GDSII</vt:lpstr>
      <vt:lpstr>Sign-off checks: all zero</vt:lpstr>
      <vt:lpstr>Cost, society and environment</vt:lpstr>
      <vt:lpstr>Problems we hit and how we fixed them</vt:lpstr>
      <vt:lpstr>Limitations and future scope</vt:lpstr>
      <vt:lpstr>Conclusion</vt:lpstr>
      <vt:lpstr>Repository and deliverables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Level Crossing Monitor</dc:title>
  <dc:subject>PptxGenJS Presentation</dc:subject>
  <dc:creator>T. Murali</dc:creator>
  <cp:lastModifiedBy>Murali Thadishetty</cp:lastModifiedBy>
  <cp:revision>2</cp:revision>
  <dcterms:created xsi:type="dcterms:W3CDTF">2026-10-23T06:07:29Z</dcterms:created>
  <dcterms:modified xsi:type="dcterms:W3CDTF">2026-10-23T06:17:10Z</dcterms:modified>
</cp:coreProperties>
</file>